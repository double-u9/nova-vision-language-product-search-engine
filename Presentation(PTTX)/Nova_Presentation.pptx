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AA"/>
    <a:srgbClr val="8B92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83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ack rectangle with white lines&#10;&#10;AI-generated content may be incorrect.">
            <a:extLst>
              <a:ext uri="{FF2B5EF4-FFF2-40B4-BE49-F238E27FC236}">
                <a16:creationId xmlns:a16="http://schemas.microsoft.com/office/drawing/2014/main" id="{D68414DD-906F-E5D3-9F6A-18D62F55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6" y="2054178"/>
            <a:ext cx="4395682" cy="113257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422390" y="-916466"/>
            <a:ext cx="4572001" cy="4697819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069414"/>
            <a:ext cx="3200400" cy="32004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58434"/>
            <a:ext cx="45719" cy="3727315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792" y="80946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· MULTIMODAL · LOCAL-FIRST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728" y="969487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82926" y="2325094"/>
            <a:ext cx="3906441" cy="49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4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Product Search Engine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882926" y="3011751"/>
            <a:ext cx="4690870" cy="289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multimodal retrieval across text, image &amp; hybrid queries</a:t>
            </a:r>
            <a:endParaRPr lang="en-US" sz="105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66498210-9772-570F-36EA-C77149FBC16D}"/>
              </a:ext>
            </a:extLst>
          </p:cNvPr>
          <p:cNvSpPr/>
          <p:nvPr/>
        </p:nvSpPr>
        <p:spPr>
          <a:xfrm>
            <a:off x="713547" y="385094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Mohammed Firas Thamir</a:t>
            </a:r>
            <a:endParaRPr lang="en-US" sz="200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E9DD7324-FB1C-5645-5026-6A6FC04CD274}"/>
              </a:ext>
            </a:extLst>
          </p:cNvPr>
          <p:cNvSpPr/>
          <p:nvPr/>
        </p:nvSpPr>
        <p:spPr>
          <a:xfrm>
            <a:off x="739433" y="4135671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Dept. of Computer Engineering  ·  Al-Farabi University  ·  Baghdad, Iraq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mohammedfiras9sep@gmail.com</a:t>
            </a:r>
            <a:endParaRPr lang="en-US" sz="1000" dirty="0">
              <a:solidFill>
                <a:srgbClr val="00D4AA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AF65130-F3C8-6E5B-44DE-32B1992DD042}"/>
              </a:ext>
            </a:extLst>
          </p:cNvPr>
          <p:cNvSpPr/>
          <p:nvPr/>
        </p:nvSpPr>
        <p:spPr>
          <a:xfrm>
            <a:off x="738079" y="365512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7593D71-2EF1-7F47-9090-2C93D4129AFA}"/>
              </a:ext>
            </a:extLst>
          </p:cNvPr>
          <p:cNvSpPr/>
          <p:nvPr/>
        </p:nvSpPr>
        <p:spPr>
          <a:xfrm>
            <a:off x="444412" y="275849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. </a:t>
            </a:r>
            <a:r>
              <a:rPr lang="en-US" sz="900" b="1" kern="0" spc="300" dirty="0" err="1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Asst.lec</a:t>
            </a:r>
            <a:r>
              <a:rPr lang="en-US" sz="900" b="1" kern="0" spc="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Al-</a:t>
            </a:r>
            <a:r>
              <a:rPr lang="en-US" sz="900" b="1" kern="0" spc="300" dirty="0" err="1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Muntathar</a:t>
            </a:r>
            <a:r>
              <a:rPr lang="en-US" sz="900" b="1" kern="0" spc="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Mahmoud Abdul Wahid</a:t>
            </a:r>
          </a:p>
        </p:txBody>
      </p:sp>
      <p:pic>
        <p:nvPicPr>
          <p:cNvPr id="20" name="Graphic 1">
            <a:extLst>
              <a:ext uri="{FF2B5EF4-FFF2-40B4-BE49-F238E27FC236}">
                <a16:creationId xmlns:a16="http://schemas.microsoft.com/office/drawing/2014/main" id="{86911BD2-C703-5110-3ED4-0FCAD5D05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5658" y="355515"/>
            <a:ext cx="1423381" cy="100584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E484FA7-0121-245B-7E36-5F21096D43D9}"/>
              </a:ext>
            </a:extLst>
          </p:cNvPr>
          <p:cNvSpPr/>
          <p:nvPr/>
        </p:nvSpPr>
        <p:spPr>
          <a:xfrm>
            <a:off x="6148980" y="275849"/>
            <a:ext cx="1112347" cy="113197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D4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FB0611-C6A4-EB48-63CA-CAC9D2890885}"/>
              </a:ext>
            </a:extLst>
          </p:cNvPr>
          <p:cNvGrpSpPr/>
          <p:nvPr/>
        </p:nvGrpSpPr>
        <p:grpSpPr>
          <a:xfrm>
            <a:off x="6270073" y="433002"/>
            <a:ext cx="870160" cy="817668"/>
            <a:chOff x="19148" y="-14350"/>
            <a:chExt cx="923925" cy="96139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DFED4B4-64E2-EB5D-8058-A246FE303E26}"/>
                </a:ext>
              </a:extLst>
            </p:cNvPr>
            <p:cNvGrpSpPr/>
            <p:nvPr/>
          </p:nvGrpSpPr>
          <p:grpSpPr>
            <a:xfrm>
              <a:off x="164892" y="314793"/>
              <a:ext cx="616226" cy="454720"/>
              <a:chOff x="164892" y="314793"/>
              <a:chExt cx="616226" cy="45472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695DCCB-62AB-D874-3249-7F8184E7169B}"/>
                  </a:ext>
                </a:extLst>
              </p:cNvPr>
              <p:cNvSpPr/>
              <p:nvPr/>
            </p:nvSpPr>
            <p:spPr>
              <a:xfrm>
                <a:off x="370208" y="314793"/>
                <a:ext cx="194310" cy="22415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183AD70-03C8-EC8E-5364-4DB86000AB14}"/>
                  </a:ext>
                </a:extLst>
              </p:cNvPr>
              <p:cNvSpPr/>
              <p:nvPr/>
            </p:nvSpPr>
            <p:spPr>
              <a:xfrm>
                <a:off x="277075" y="420626"/>
                <a:ext cx="389255" cy="45719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Rectangle 9">
                <a:extLst>
                  <a:ext uri="{FF2B5EF4-FFF2-40B4-BE49-F238E27FC236}">
                    <a16:creationId xmlns:a16="http://schemas.microsoft.com/office/drawing/2014/main" id="{D88B5C7E-F386-4671-FF0D-02ED1187A90E}"/>
                  </a:ext>
                </a:extLst>
              </p:cNvPr>
              <p:cNvSpPr/>
              <p:nvPr/>
            </p:nvSpPr>
            <p:spPr>
              <a:xfrm>
                <a:off x="164892" y="651343"/>
                <a:ext cx="616226" cy="118170"/>
              </a:xfrm>
              <a:custGeom>
                <a:avLst/>
                <a:gdLst>
                  <a:gd name="connsiteX0" fmla="*/ 0 w 616226"/>
                  <a:gd name="connsiteY0" fmla="*/ 0 h 94081"/>
                  <a:gd name="connsiteX1" fmla="*/ 616226 w 616226"/>
                  <a:gd name="connsiteY1" fmla="*/ 0 h 94081"/>
                  <a:gd name="connsiteX2" fmla="*/ 616226 w 616226"/>
                  <a:gd name="connsiteY2" fmla="*/ 94081 h 94081"/>
                  <a:gd name="connsiteX3" fmla="*/ 0 w 616226"/>
                  <a:gd name="connsiteY3" fmla="*/ 94081 h 94081"/>
                  <a:gd name="connsiteX4" fmla="*/ 0 w 616226"/>
                  <a:gd name="connsiteY4" fmla="*/ 0 h 94081"/>
                  <a:gd name="connsiteX0" fmla="*/ 0 w 616226"/>
                  <a:gd name="connsiteY0" fmla="*/ 0 h 94081"/>
                  <a:gd name="connsiteX1" fmla="*/ 308810 w 616226"/>
                  <a:gd name="connsiteY1" fmla="*/ 2006 h 94081"/>
                  <a:gd name="connsiteX2" fmla="*/ 616226 w 616226"/>
                  <a:gd name="connsiteY2" fmla="*/ 0 h 94081"/>
                  <a:gd name="connsiteX3" fmla="*/ 616226 w 616226"/>
                  <a:gd name="connsiteY3" fmla="*/ 94081 h 94081"/>
                  <a:gd name="connsiteX4" fmla="*/ 0 w 616226"/>
                  <a:gd name="connsiteY4" fmla="*/ 94081 h 94081"/>
                  <a:gd name="connsiteX5" fmla="*/ 0 w 616226"/>
                  <a:gd name="connsiteY5" fmla="*/ 0 h 94081"/>
                  <a:gd name="connsiteX0" fmla="*/ 0 w 616226"/>
                  <a:gd name="connsiteY0" fmla="*/ 0 h 94081"/>
                  <a:gd name="connsiteX1" fmla="*/ 302792 w 616226"/>
                  <a:gd name="connsiteY1" fmla="*/ 20074 h 94081"/>
                  <a:gd name="connsiteX2" fmla="*/ 616226 w 616226"/>
                  <a:gd name="connsiteY2" fmla="*/ 0 h 94081"/>
                  <a:gd name="connsiteX3" fmla="*/ 616226 w 616226"/>
                  <a:gd name="connsiteY3" fmla="*/ 94081 h 94081"/>
                  <a:gd name="connsiteX4" fmla="*/ 0 w 616226"/>
                  <a:gd name="connsiteY4" fmla="*/ 94081 h 94081"/>
                  <a:gd name="connsiteX5" fmla="*/ 0 w 616226"/>
                  <a:gd name="connsiteY5" fmla="*/ 0 h 94081"/>
                  <a:gd name="connsiteX0" fmla="*/ 14042 w 616226"/>
                  <a:gd name="connsiteY0" fmla="*/ 0 h 118170"/>
                  <a:gd name="connsiteX1" fmla="*/ 302792 w 616226"/>
                  <a:gd name="connsiteY1" fmla="*/ 44163 h 118170"/>
                  <a:gd name="connsiteX2" fmla="*/ 616226 w 616226"/>
                  <a:gd name="connsiteY2" fmla="*/ 24089 h 118170"/>
                  <a:gd name="connsiteX3" fmla="*/ 616226 w 616226"/>
                  <a:gd name="connsiteY3" fmla="*/ 118170 h 118170"/>
                  <a:gd name="connsiteX4" fmla="*/ 0 w 616226"/>
                  <a:gd name="connsiteY4" fmla="*/ 118170 h 118170"/>
                  <a:gd name="connsiteX5" fmla="*/ 14042 w 616226"/>
                  <a:gd name="connsiteY5" fmla="*/ 0 h 118170"/>
                  <a:gd name="connsiteX0" fmla="*/ 14042 w 616226"/>
                  <a:gd name="connsiteY0" fmla="*/ 0 h 118170"/>
                  <a:gd name="connsiteX1" fmla="*/ 302792 w 616226"/>
                  <a:gd name="connsiteY1" fmla="*/ 44163 h 118170"/>
                  <a:gd name="connsiteX2" fmla="*/ 610208 w 616226"/>
                  <a:gd name="connsiteY2" fmla="*/ 0 h 118170"/>
                  <a:gd name="connsiteX3" fmla="*/ 616226 w 616226"/>
                  <a:gd name="connsiteY3" fmla="*/ 118170 h 118170"/>
                  <a:gd name="connsiteX4" fmla="*/ 0 w 616226"/>
                  <a:gd name="connsiteY4" fmla="*/ 118170 h 118170"/>
                  <a:gd name="connsiteX5" fmla="*/ 14042 w 616226"/>
                  <a:gd name="connsiteY5" fmla="*/ 0 h 118170"/>
                  <a:gd name="connsiteX0" fmla="*/ 14042 w 616226"/>
                  <a:gd name="connsiteY0" fmla="*/ 0 h 118170"/>
                  <a:gd name="connsiteX1" fmla="*/ 302792 w 616226"/>
                  <a:gd name="connsiteY1" fmla="*/ 44163 h 118170"/>
                  <a:gd name="connsiteX2" fmla="*/ 598171 w 616226"/>
                  <a:gd name="connsiteY2" fmla="*/ 4013 h 118170"/>
                  <a:gd name="connsiteX3" fmla="*/ 616226 w 616226"/>
                  <a:gd name="connsiteY3" fmla="*/ 118170 h 118170"/>
                  <a:gd name="connsiteX4" fmla="*/ 0 w 616226"/>
                  <a:gd name="connsiteY4" fmla="*/ 118170 h 118170"/>
                  <a:gd name="connsiteX5" fmla="*/ 14042 w 616226"/>
                  <a:gd name="connsiteY5" fmla="*/ 0 h 118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6226" h="118170">
                    <a:moveTo>
                      <a:pt x="14042" y="0"/>
                    </a:moveTo>
                    <a:lnTo>
                      <a:pt x="302792" y="44163"/>
                    </a:lnTo>
                    <a:lnTo>
                      <a:pt x="598171" y="4013"/>
                    </a:lnTo>
                    <a:lnTo>
                      <a:pt x="616226" y="118170"/>
                    </a:lnTo>
                    <a:lnTo>
                      <a:pt x="0" y="118170"/>
                    </a:lnTo>
                    <a:lnTo>
                      <a:pt x="14042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Graphic 1">
              <a:extLst>
                <a:ext uri="{FF2B5EF4-FFF2-40B4-BE49-F238E27FC236}">
                  <a16:creationId xmlns:a16="http://schemas.microsoft.com/office/drawing/2014/main" id="{D60FB1BB-9279-5D18-35C2-A91211FBD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148" y="-14350"/>
              <a:ext cx="923925" cy="961390"/>
            </a:xfrm>
            <a:prstGeom prst="rect">
              <a:avLst/>
            </a:prstGeom>
          </p:spPr>
        </p:pic>
      </p:grpSp>
      <p:pic>
        <p:nvPicPr>
          <p:cNvPr id="31" name="Picture 30" descr="A blue magnifying glass and gears&#10;&#10;AI-generated content may be incorrect.">
            <a:extLst>
              <a:ext uri="{FF2B5EF4-FFF2-40B4-BE49-F238E27FC236}">
                <a16:creationId xmlns:a16="http://schemas.microsoft.com/office/drawing/2014/main" id="{EE672F35-826E-9AFB-D36D-92F401F7B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7455" y="1774490"/>
            <a:ext cx="2783788" cy="2617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has a multimodal gap.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catalogs need more than keywords — they need to understand context, images, and intent together.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47672"/>
            <a:ext cx="566928" cy="5669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528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66090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Search Falls Short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" y="333756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like "cozy winter jacket" fail against keyword-based indexes that can't understand semantic meaning.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69164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47288" y="1947672"/>
            <a:ext cx="566928" cy="5669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05282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0712" y="266090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Intent Is Ignored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10712" y="333756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want to upload a reference photo and find visually similar products — no existing local pipeline supports this end-to-end.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26974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27648" y="1947672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05282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91072" y="266090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Local Workflow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91072" y="333756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demos require observable health, Prometheus metrics, inspectable APIs, and fast retrieval across 74K+ items — locally.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9" grpId="0" animBg="1"/>
      <p:bldP spid="10" grpId="0" animBg="1"/>
      <p:bldP spid="15" grpId="0" animBg="1"/>
      <p:bldP spid="16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multimodal search matter now?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3474720"/>
          </a:xfrm>
          <a:prstGeom prst="rect">
            <a:avLst/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Commerce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increasingly search by visual reference rather than keywords.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96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Large-language models have established that text &amp; image embeddings can share a single latent space.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552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(Radford et al., 2021) demonstrated zero-shot cross-modal retrieval at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accessible, observable, local reference implementation for product catalogs.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40690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44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Nova's Position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30368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from React UI to FAISS retrieval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67004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0368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9224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Prometheus metrics, Swagger docs built-in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32841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3036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9224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and hybrid queries in one engine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98678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036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9224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74K+ products indexed entirely on localhost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layers. One unified experience.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19072"/>
            <a:ext cx="640080" cy="64008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847088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51460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0352" y="28986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FastAPI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3182112"/>
            <a:ext cx="23682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typed, production-grade UI communicates with the Python backend through a structured API layer — endpoints for every search modality, health, and metrics.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463040"/>
            <a:ext cx="269748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46304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7288" y="1719072"/>
            <a:ext cx="640080" cy="64008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2" y="1847088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0712" y="251460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10712" y="28986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shared space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10712" y="3182112"/>
            <a:ext cx="23682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 maps both text descriptions and product images into a single 512-dimensional embedding space, enabling cross-modal similarity comparisons.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463040"/>
            <a:ext cx="26974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27648" y="1719072"/>
            <a:ext cx="640080" cy="640080"/>
          </a:xfrm>
          <a:prstGeom prst="ellipse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092" y="1847088"/>
            <a:ext cx="393192" cy="3931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1072" y="251460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SQLite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91072" y="28986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retrieval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91072" y="3182112"/>
            <a:ext cx="23682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executes approximate nearest-neighbor search over 74K pre-indexed vectors. SQLite stores metadata for ranked result enrichment and category recovery.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81328"/>
            <a:ext cx="12344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45920"/>
            <a:ext cx="658368" cy="6583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73936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4904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554480" y="2144268"/>
            <a:ext cx="219456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27632" y="2052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63FF"/>
                </a:solidFill>
              </a:rPr>
              <a:t>▶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773936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773936" y="1481328"/>
            <a:ext cx="12344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66544" y="164592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773936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828800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008376" y="2144268"/>
            <a:ext cx="219456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81528" y="2052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63FF"/>
                </a:solidFill>
              </a:rPr>
              <a:t>▶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3227832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27832" y="1481328"/>
            <a:ext cx="12344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520440" y="1645920"/>
            <a:ext cx="658368" cy="6583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177393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82696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SearchPipeline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282696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α-fusion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462272" y="2144268"/>
            <a:ext cx="219456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35424" y="2052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63FF"/>
                </a:solidFill>
              </a:rPr>
              <a:t>▶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4681728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81728" y="1481328"/>
            <a:ext cx="12344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74336" y="1645920"/>
            <a:ext cx="658368" cy="6583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773936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36592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Encoder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736592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916168" y="2144268"/>
            <a:ext cx="219456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989320" y="2052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63FF"/>
                </a:solidFill>
              </a:rPr>
              <a:t>▶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6135624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135624" y="1481328"/>
            <a:ext cx="12344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28232" y="1645920"/>
            <a:ext cx="658368" cy="6583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773936"/>
            <a:ext cx="402336" cy="40233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190488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6190488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 vectors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370064" y="2144268"/>
            <a:ext cx="219456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443216" y="2052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63FF"/>
                </a:solidFill>
              </a:rPr>
              <a:t>▶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7589520" y="1481328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7589520" y="1481328"/>
            <a:ext cx="12344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7882128" y="164592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1773936"/>
            <a:ext cx="402336" cy="40233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644384" y="239572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7644384" y="26334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365760" y="3063240"/>
            <a:ext cx="45720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54864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API Endpoints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594360" y="3474720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649224" y="3474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/search/text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22860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594360" y="3813048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649224" y="3813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/search/image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228600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reference image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594360" y="4151376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49224" y="4151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/search/hybrid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228600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α-weighted query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4709160" y="3474720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4764024" y="3474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/search/similar</a:t>
            </a:r>
            <a:endParaRPr lang="en-US" sz="900" dirty="0"/>
          </a:p>
        </p:txBody>
      </p:sp>
      <p:sp>
        <p:nvSpPr>
          <p:cNvPr id="64" name="Text 56"/>
          <p:cNvSpPr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by product ID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4709160" y="3813048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4764024" y="3813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900" dirty="0"/>
          </a:p>
        </p:txBody>
      </p:sp>
      <p:sp>
        <p:nvSpPr>
          <p:cNvPr id="67" name="Text 59"/>
          <p:cNvSpPr/>
          <p:nvPr/>
        </p:nvSpPr>
        <p:spPr>
          <a:xfrm>
            <a:off x="640080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&amp; component state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4709160" y="4151376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0B0F1F"/>
          </a:solidFill>
          <a:ln w="12700">
            <a:solidFill>
              <a:srgbClr val="0B0F1F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4764024" y="4151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</a:t>
            </a:r>
            <a:endParaRPr lang="en-US" sz="900" dirty="0"/>
          </a:p>
        </p:txBody>
      </p:sp>
      <p:sp>
        <p:nvSpPr>
          <p:cNvPr id="70" name="Text 62"/>
          <p:cNvSpPr/>
          <p:nvPr/>
        </p:nvSpPr>
        <p:spPr>
          <a:xfrm>
            <a:off x="640080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Prometheus-style counters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1" grpId="0" animBg="1"/>
      <p:bldP spid="16" grpId="0" animBg="1"/>
      <p:bldP spid="17" grpId="0" animBg="1"/>
      <p:bldP spid="19" grpId="0" animBg="1"/>
      <p:bldP spid="24" grpId="0" animBg="1"/>
      <p:bldP spid="25" grpId="0" animBg="1"/>
      <p:bldP spid="27" grpId="0" animBg="1"/>
      <p:bldP spid="32" grpId="0" animBg="1"/>
      <p:bldP spid="33" grpId="0" animBg="1"/>
      <p:bldP spid="35" grpId="0" animBg="1"/>
      <p:bldP spid="40" grpId="0" animBg="1"/>
      <p:bldP spid="41" grpId="0" animBg="1"/>
      <p:bldP spid="43" grpId="0" animBg="1"/>
      <p:bldP spid="48" grpId="0" animBg="1"/>
      <p:bldP spid="49" grpId="0" animBg="1"/>
      <p:bldP spid="52" grpId="0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  <p:bldP spid="63" grpId="0" animBg="1"/>
      <p:bldP spid="64" grpId="0" animBg="1"/>
      <p:bldP spid="66" grpId="0" animBg="1"/>
      <p:bldP spid="67" grpId="0" animBg="1"/>
      <p:bldP spid="69" grpId="0" animBg="1"/>
      <p:bldP spid="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search modalities. One engine.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53312"/>
            <a:ext cx="406908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3677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1563624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6C63FF">
              <a:alpha val="8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563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NLP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24712" y="2020824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9304" y="197510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 ("waterproof hiking boot")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24712" y="2240280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9304" y="21945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encoder → 512-dim vector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124712" y="2459736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9304" y="241401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top-K nearest-neighbor lookup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124712" y="2679192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9304" y="263347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Sub-34 ms median latency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1353312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353312"/>
            <a:ext cx="40690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1536192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36776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13832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Search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589520" y="1563624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0" y="1563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513832" y="202082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78424" y="197510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reference image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513832" y="224028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78424" y="21945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image encoder → same 512-dim space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513832" y="2459736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78424" y="241401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visually similar products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513832" y="267919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78424" y="263347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54–61 ms median latency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20040" y="306324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20040" y="3063240"/>
            <a:ext cx="40690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46704"/>
            <a:ext cx="320040" cy="32004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24712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39" name="Shape 34"/>
          <p:cNvSpPr/>
          <p:nvPr/>
        </p:nvSpPr>
        <p:spPr>
          <a:xfrm>
            <a:off x="3200400" y="327355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20040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α-Weighted Fusion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1" name="Shape 36"/>
          <p:cNvSpPr/>
          <p:nvPr/>
        </p:nvSpPr>
        <p:spPr>
          <a:xfrm>
            <a:off x="1124712" y="3730752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289304" y="36850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control blends text + image weight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1124712" y="3950208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289304" y="390448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fusion: score = α·text + (1-α)·image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1124712" y="41696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289304" y="412394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for repeated embeddings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1124712" y="43891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289304" y="43434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109–171 ms for dual-encoder pass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4709160" y="306324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4709160" y="3063240"/>
            <a:ext cx="40690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46704"/>
            <a:ext cx="320040" cy="32004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5513832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Refinement</a:t>
            </a:r>
            <a:endParaRPr lang="en-US" sz="1500" dirty="0"/>
          </a:p>
        </p:txBody>
      </p:sp>
      <p:sp>
        <p:nvSpPr>
          <p:cNvPr id="54" name="Shape 48"/>
          <p:cNvSpPr/>
          <p:nvPr/>
        </p:nvSpPr>
        <p:spPr>
          <a:xfrm>
            <a:off x="7589520" y="327355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758952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Discovery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6" name="Shape 50"/>
          <p:cNvSpPr/>
          <p:nvPr/>
        </p:nvSpPr>
        <p:spPr>
          <a:xfrm>
            <a:off x="5513832" y="373075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5678424" y="36850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Similar-item endpoint for serendipitous finds</a:t>
            </a:r>
            <a:endParaRPr lang="en-US" sz="1050" dirty="0"/>
          </a:p>
        </p:txBody>
      </p:sp>
      <p:sp>
        <p:nvSpPr>
          <p:cNvPr id="58" name="Shape 52"/>
          <p:cNvSpPr/>
          <p:nvPr/>
        </p:nvSpPr>
        <p:spPr>
          <a:xfrm>
            <a:off x="5513832" y="395020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678424" y="390448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latency readout per query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5513832" y="416966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5678424" y="412394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health and metrics visible in UI</a:t>
            </a:r>
            <a:endParaRPr lang="en-US" sz="1050" dirty="0"/>
          </a:p>
        </p:txBody>
      </p:sp>
      <p:sp>
        <p:nvSpPr>
          <p:cNvPr id="62" name="Shape 56"/>
          <p:cNvSpPr/>
          <p:nvPr/>
        </p:nvSpPr>
        <p:spPr>
          <a:xfrm>
            <a:off x="5513832" y="438912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5678424" y="43434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FashionIQ category recovery on results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toolchain — from UI to retrieval.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33502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264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84632" y="201168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" y="22311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 &amp; component model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4632" y="251460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" y="25511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" y="2734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" y="301752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" y="30540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" y="32369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Sub-6 s production build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" y="352044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" y="3557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" y="37398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 &amp; caching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4632" y="402336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" y="4059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9496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headless components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4632" y="452628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9496" y="47457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interaction animations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46120" y="12344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46120" y="1234440"/>
            <a:ext cx="2743200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10712" y="133502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42646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959352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3410712" y="201168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65576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465576" y="22311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+ OpenAPI docs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410712" y="251460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65576" y="25511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3465576" y="2734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 runtime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410712" y="301752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65576" y="30540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3465576" y="32369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410712" y="352044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465576" y="3557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3465576" y="37398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image upload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410712" y="402336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465576" y="4059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3465576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pre-processing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3410712" y="452628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465576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3465576" y="47457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counters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6172200" y="12344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6172200" y="1234440"/>
            <a:ext cx="2743200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336792" y="133502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426464"/>
            <a:ext cx="274320" cy="27432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885432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Data</a:t>
            </a:r>
            <a:endParaRPr lang="en-US" sz="1700" dirty="0"/>
          </a:p>
        </p:txBody>
      </p:sp>
      <p:sp>
        <p:nvSpPr>
          <p:cNvPr id="55" name="Shape 50"/>
          <p:cNvSpPr/>
          <p:nvPr/>
        </p:nvSpPr>
        <p:spPr>
          <a:xfrm>
            <a:off x="6336792" y="201168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391656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6391656" y="22311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embedding model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336792" y="251460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391656" y="25511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CPU</a:t>
            </a:r>
            <a:endParaRPr lang="en-US" sz="1100" dirty="0"/>
          </a:p>
        </p:txBody>
      </p:sp>
      <p:sp>
        <p:nvSpPr>
          <p:cNvPr id="60" name="Text 55"/>
          <p:cNvSpPr/>
          <p:nvPr/>
        </p:nvSpPr>
        <p:spPr>
          <a:xfrm>
            <a:off x="6391656" y="2734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vector index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6336792" y="301752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391656" y="30540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6391656" y="32369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metadata store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6336792" y="352044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391656" y="3557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FashionIQ</a:t>
            </a:r>
            <a:endParaRPr lang="en-US" sz="1100" dirty="0"/>
          </a:p>
        </p:txBody>
      </p:sp>
      <p:sp>
        <p:nvSpPr>
          <p:cNvPr id="66" name="Text 61"/>
          <p:cNvSpPr/>
          <p:nvPr/>
        </p:nvSpPr>
        <p:spPr>
          <a:xfrm>
            <a:off x="6391656" y="37398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 image dataset (LFS)</a:t>
            </a:r>
            <a:endParaRPr lang="en-US" sz="950" dirty="0"/>
          </a:p>
        </p:txBody>
      </p:sp>
      <p:sp>
        <p:nvSpPr>
          <p:cNvPr id="67" name="Shape 62"/>
          <p:cNvSpPr/>
          <p:nvPr/>
        </p:nvSpPr>
        <p:spPr>
          <a:xfrm>
            <a:off x="6336792" y="4023360"/>
            <a:ext cx="2414016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6391656" y="4059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LFS</a:t>
            </a:r>
            <a:endParaRPr lang="en-US" sz="1100" dirty="0"/>
          </a:p>
        </p:txBody>
      </p:sp>
      <p:sp>
        <p:nvSpPr>
          <p:cNvPr id="69" name="Text 64"/>
          <p:cNvSpPr/>
          <p:nvPr/>
        </p:nvSpPr>
        <p:spPr>
          <a:xfrm>
            <a:off x="6391656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binary versioning</a:t>
            </a:r>
            <a:endParaRPr lang="en-US" sz="950" dirty="0"/>
          </a:p>
        </p:txBody>
      </p:sp>
      <p:sp>
        <p:nvSpPr>
          <p:cNvPr id="70" name="Shape 65"/>
          <p:cNvSpPr/>
          <p:nvPr/>
        </p:nvSpPr>
        <p:spPr>
          <a:xfrm>
            <a:off x="6336792" y="4526280"/>
            <a:ext cx="241401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391656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72" name="Text 67"/>
          <p:cNvSpPr/>
          <p:nvPr/>
        </p:nvSpPr>
        <p:spPr>
          <a:xfrm>
            <a:off x="6391656" y="47457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math &amp; alpha fusion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4" grpId="0" animBg="1"/>
      <p:bldP spid="56" grpId="0" animBg="1"/>
      <p:bldP spid="57" grpId="0" animBg="1"/>
      <p:bldP spid="59" grpId="0" animBg="1"/>
      <p:bldP spid="60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1" grpId="0" animBg="1"/>
      <p:bldP spid="7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SearchPipeline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16642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Image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Both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37360" y="2121408"/>
            <a:ext cx="1828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2224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A"/>
                </a:solidFill>
              </a:rPr>
              <a:t>▶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9202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762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716" y="16642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659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image_features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108960" y="2121408"/>
            <a:ext cx="1828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63824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A"/>
                </a:solidFill>
              </a:rPr>
              <a:t>▶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2918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478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316" y="166420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375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α-Fusion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3375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α·text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+(1-α)·img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480560" y="2121408"/>
            <a:ext cx="1828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35424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A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46634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194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916" y="166420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091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7091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re-encode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cache hit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852160" y="2121408"/>
            <a:ext cx="1828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07024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A"/>
                </a:solidFill>
              </a:rPr>
              <a:t>▶</a:t>
            </a:r>
            <a:endParaRPr lang="en-US" sz="700" dirty="0"/>
          </a:p>
        </p:txBody>
      </p:sp>
      <p:sp>
        <p:nvSpPr>
          <p:cNvPr id="33" name="Shape 27"/>
          <p:cNvSpPr/>
          <p:nvPr/>
        </p:nvSpPr>
        <p:spPr>
          <a:xfrm>
            <a:off x="60350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2910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1664208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0807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Search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0807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nearest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223760" y="2121408"/>
            <a:ext cx="1828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278624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A"/>
                </a:solidFill>
              </a:rPr>
              <a:t>▶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7406640" y="1389888"/>
            <a:ext cx="1188720" cy="1463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662672" y="1545336"/>
            <a:ext cx="676656" cy="676656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6116" y="1664208"/>
            <a:ext cx="420624" cy="42062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45236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74523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meta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365760" y="3090672"/>
            <a:ext cx="269748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365760" y="3090672"/>
            <a:ext cx="45720" cy="11430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48640" y="320040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Alpha Fusion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548640" y="352044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weight is user-controlled per query. The SearchPipeline normalizes both embedding vectors before weighted combination, ensuring the FAISS search is always cosine-consistent.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3246120" y="3090672"/>
            <a:ext cx="269748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3246120" y="3090672"/>
            <a:ext cx="45720" cy="1143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429000" y="320040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LRU Caching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3429000" y="352044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text or image embeddings are served from memory, bypassing CLIP inference entirely — critical for low-latency similarity refinement flows.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6126480" y="3090672"/>
            <a:ext cx="269748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126480" y="3090672"/>
            <a:ext cx="45720" cy="1143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309360" y="320040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FashionIQ Category Recovery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6309360" y="352044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missing category labels are recovered from split files at result-format time, guaranteeing complete metadata presentation for every ranked result.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1" grpId="0" animBg="1"/>
      <p:bldP spid="15" grpId="0" animBg="1"/>
      <p:bldP spid="16" grpId="0" animBg="1"/>
      <p:bldP spid="18" grpId="0" animBg="1"/>
      <p:bldP spid="22" grpId="0" animBg="1"/>
      <p:bldP spid="23" grpId="0" animBg="1"/>
      <p:bldP spid="25" grpId="0" animBg="1"/>
      <p:bldP spid="29" grpId="0" animBg="1"/>
      <p:bldP spid="30" grpId="0" animBg="1"/>
      <p:bldP spid="32" grpId="0" animBg="1"/>
      <p:bldP spid="36" grpId="0" animBg="1"/>
      <p:bldP spid="37" grpId="0" animBg="1"/>
      <p:bldP spid="39" grpId="0" animBg="1"/>
      <p:bldP spid="43" grpId="0" animBg="1"/>
      <p:bldP spid="44" grpId="0" animBg="1"/>
      <p:bldP spid="47" grpId="0" animBg="1"/>
      <p:bldP spid="48" grpId="0" animBg="1"/>
      <p:bldP spid="51" grpId="0" animBg="1"/>
      <p:bldP spid="52" grpId="0" animBg="1"/>
      <p:bldP spid="55" grpId="0" animBg="1"/>
      <p:bldP spid="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Validated. Fast. Fully operational.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202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74,381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Indexed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FAISS IDs + metadata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192024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325880"/>
            <a:ext cx="19202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63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text–image latent space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92024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19202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63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5.37 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060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 + vite build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325880"/>
            <a:ext cx="192024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325880"/>
            <a:ext cx="19202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463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9516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cold start to first render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8503920" cy="19202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Latency by Mode (ms)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3465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89888" y="3429000"/>
            <a:ext cx="6583680" cy="34747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3429000"/>
            <a:ext cx="1267829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30869" y="3465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 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941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89888" y="3904488"/>
            <a:ext cx="6583680" cy="34747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89888" y="3904488"/>
            <a:ext cx="218202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45060" y="39410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4416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89888" y="4379976"/>
            <a:ext cx="6583680" cy="34747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89888" y="4379976"/>
            <a:ext cx="527823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1270" y="4416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140.3 ms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LESSONS LEARNED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build process taught us.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45720" cy="10972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Through Prebuilt Assets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7556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Rebuilding indexes on demand was unreliable in demo conditions.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02082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Shipping a prebuilt FAISS index, bundled SQLite metadata, and locally-served image assets made the demo deterministic and eliminated cold-start index build time entirely.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60320"/>
            <a:ext cx="45720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Observability Is Critical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990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CLIP model loading and index initialization silently delayed first-use readiness.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32552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Adding explicit health endpoints that report component initialization state (clip_loaded, index_loaded, metadata_loaded) transformed invisible delays into observable, diagnosable startup phases.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94760"/>
            <a:ext cx="45720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862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Controls Beat Fixed Weights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224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A single hard-coded text-image weight produced poor results across product categories.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44897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Exposing the alpha slider in the UI let users discover that apparel benefits from higher image weight while category searches favor text — iterative refinement outperformed any fixed heuristic.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FUTURE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high-impact next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81912"/>
            <a:ext cx="594360" cy="59436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Adaptive Fusion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alpha weighting with a learned model trained on query-category pairs. This moves the system from a user-tuned slider to an intent-aware fusion that automatically selects the right text-image balance per query type.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16352"/>
            <a:ext cx="594360" cy="5943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163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0" y="26517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 Operationalization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existing evaluation utilities (Recall@K, MRR, NDCG, latency benchmarks) into a CI-integrated suite. Automated regression testing ensures retrieval quality is tracked across every model or index change.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50792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0" y="38862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3886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&amp; Hard-Negative Training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scaffolded cross-encoder reranking component and begin hard-negative mining over the FashionIQ split files. This directly improves top-K precision without replacing the fast FAISS first-stage retrieval.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7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828800"/>
            <a:ext cx="4114800" cy="4114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· Vision-Language Product Search Engine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" y="3108960"/>
            <a:ext cx="260604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3108960"/>
            <a:ext cx="26060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" y="323697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" y="333756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8700" y="3218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4924" y="36118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github.com/double-u9/Nova-Vision-Language-Product-Search-Engine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8980" y="3108960"/>
            <a:ext cx="260604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8980" y="3108960"/>
            <a:ext cx="26060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15284" y="323697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68" y="333756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09060" y="3218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15284" y="36118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http://127.0.0.1:3000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49340" y="3108960"/>
            <a:ext cx="260604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49340" y="3108960"/>
            <a:ext cx="26060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95644" y="323697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33375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9420" y="3218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95644" y="36118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http://127.0.0.1:5000/docs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6" grpId="0" animBg="1"/>
      <p:bldP spid="17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1188</Words>
  <Application>Microsoft Office PowerPoint</Application>
  <PresentationFormat>On-screen Show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Vision-Language Product Search Engine</dc:title>
  <dc:subject>PptxGenJS Presentation</dc:subject>
  <dc:creator>Nova Team</dc:creator>
  <cp:lastModifiedBy>Mohammed Firas</cp:lastModifiedBy>
  <cp:revision>3</cp:revision>
  <dcterms:created xsi:type="dcterms:W3CDTF">2026-04-25T22:53:12Z</dcterms:created>
  <dcterms:modified xsi:type="dcterms:W3CDTF">2026-04-25T23:43:15Z</dcterms:modified>
</cp:coreProperties>
</file>